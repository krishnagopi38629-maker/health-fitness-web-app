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4"/>
  </p:sldMasterIdLst>
  <p:notesMasterIdLst>
    <p:notesMasterId r:id="rId14"/>
  </p:notesMasterIdLst>
  <p:handoutMasterIdLst>
    <p:handoutMasterId r:id="rId15"/>
  </p:handoutMasterIdLst>
  <p:sldIdLst>
    <p:sldId id="1520" r:id="rId5"/>
    <p:sldId id="1531" r:id="rId6"/>
    <p:sldId id="1523" r:id="rId7"/>
    <p:sldId id="1541" r:id="rId8"/>
    <p:sldId id="1542" r:id="rId9"/>
    <p:sldId id="1543" r:id="rId10"/>
    <p:sldId id="1526" r:id="rId11"/>
    <p:sldId id="1544" r:id="rId12"/>
    <p:sldId id="151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87F517-FE78-4935-BA9B-2E975EB3FE84}" v="75" dt="2026-02-23T06:17:39.972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6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BFA087-A57B-4B08-90EB-996F2A1CAC48}" type="doc">
      <dgm:prSet loTypeId="urn:microsoft.com/office/officeart/2005/8/layout/hierarchy3" loCatId="hierarchy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E66E987B-E723-4BDE-AB68-E3784C47F87E}">
      <dgm:prSet/>
      <dgm:spPr/>
      <dgm:t>
        <a:bodyPr/>
        <a:lstStyle/>
        <a:p>
          <a:r>
            <a:rPr lang="en-US" b="1" i="0"/>
            <a:t>J. GOPI KRISHNA  –  231FA18141</a:t>
          </a:r>
          <a:endParaRPr lang="en-US"/>
        </a:p>
      </dgm:t>
    </dgm:pt>
    <dgm:pt modelId="{EAD509C1-E0BE-4EDA-9868-3568EDFAB3ED}" type="parTrans" cxnId="{B4B5CD1E-71E1-4B8C-A7A2-2BC251D15B4C}">
      <dgm:prSet/>
      <dgm:spPr/>
      <dgm:t>
        <a:bodyPr/>
        <a:lstStyle/>
        <a:p>
          <a:endParaRPr lang="en-US"/>
        </a:p>
      </dgm:t>
    </dgm:pt>
    <dgm:pt modelId="{8AFE0914-A529-45F8-84F7-1ED52434E81A}" type="sibTrans" cxnId="{B4B5CD1E-71E1-4B8C-A7A2-2BC251D15B4C}">
      <dgm:prSet/>
      <dgm:spPr/>
      <dgm:t>
        <a:bodyPr/>
        <a:lstStyle/>
        <a:p>
          <a:endParaRPr lang="en-US"/>
        </a:p>
      </dgm:t>
    </dgm:pt>
    <dgm:pt modelId="{735E2FFB-E667-429E-AA08-BE09DD8FAA79}">
      <dgm:prSet/>
      <dgm:spPr/>
      <dgm:t>
        <a:bodyPr/>
        <a:lstStyle/>
        <a:p>
          <a:r>
            <a:rPr lang="en-IN" b="1" i="0"/>
            <a:t>P. KUMAR              -  231FA18062</a:t>
          </a:r>
          <a:endParaRPr lang="en-US"/>
        </a:p>
      </dgm:t>
    </dgm:pt>
    <dgm:pt modelId="{1B3E7D5B-C715-4A78-BB84-A39C851D65F3}" type="parTrans" cxnId="{B3A4929E-F13B-4060-85E0-5B318BD361B3}">
      <dgm:prSet/>
      <dgm:spPr/>
      <dgm:t>
        <a:bodyPr/>
        <a:lstStyle/>
        <a:p>
          <a:endParaRPr lang="en-US"/>
        </a:p>
      </dgm:t>
    </dgm:pt>
    <dgm:pt modelId="{FC39D954-2E96-4B36-BCFC-995840E7B49E}" type="sibTrans" cxnId="{B3A4929E-F13B-4060-85E0-5B318BD361B3}">
      <dgm:prSet/>
      <dgm:spPr/>
      <dgm:t>
        <a:bodyPr/>
        <a:lstStyle/>
        <a:p>
          <a:endParaRPr lang="en-US"/>
        </a:p>
      </dgm:t>
    </dgm:pt>
    <dgm:pt modelId="{9C941747-FE7F-4DDD-B3FC-2D97DEF89F97}">
      <dgm:prSet/>
      <dgm:spPr/>
      <dgm:t>
        <a:bodyPr/>
        <a:lstStyle/>
        <a:p>
          <a:r>
            <a:rPr lang="en-IN" b="1" i="0"/>
            <a:t>K. ANANAD            -  231FA18427</a:t>
          </a:r>
          <a:endParaRPr lang="en-US"/>
        </a:p>
      </dgm:t>
    </dgm:pt>
    <dgm:pt modelId="{B278D105-F907-4EE3-9084-2185992E92BB}" type="parTrans" cxnId="{23D3C5A2-036F-4B7A-85D9-BBB89F25CBF1}">
      <dgm:prSet/>
      <dgm:spPr/>
      <dgm:t>
        <a:bodyPr/>
        <a:lstStyle/>
        <a:p>
          <a:endParaRPr lang="en-US"/>
        </a:p>
      </dgm:t>
    </dgm:pt>
    <dgm:pt modelId="{903B3CDB-0AB4-4F61-BD32-3FD68D64D1E7}" type="sibTrans" cxnId="{23D3C5A2-036F-4B7A-85D9-BBB89F25CBF1}">
      <dgm:prSet/>
      <dgm:spPr/>
      <dgm:t>
        <a:bodyPr/>
        <a:lstStyle/>
        <a:p>
          <a:endParaRPr lang="en-US"/>
        </a:p>
      </dgm:t>
    </dgm:pt>
    <dgm:pt modelId="{D259B8CB-202E-459C-B0F0-596016C4A7FA}" type="pres">
      <dgm:prSet presAssocID="{DDBFA087-A57B-4B08-90EB-996F2A1CAC4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1798040-048D-4345-8C81-6D51D38FC501}" type="pres">
      <dgm:prSet presAssocID="{E66E987B-E723-4BDE-AB68-E3784C47F87E}" presName="root" presStyleCnt="0"/>
      <dgm:spPr/>
    </dgm:pt>
    <dgm:pt modelId="{E4C622DE-25E9-4B27-A29B-B7EB401F45BF}" type="pres">
      <dgm:prSet presAssocID="{E66E987B-E723-4BDE-AB68-E3784C47F87E}" presName="rootComposite" presStyleCnt="0"/>
      <dgm:spPr/>
    </dgm:pt>
    <dgm:pt modelId="{115A7AF2-D023-405D-8201-B24D07898FD2}" type="pres">
      <dgm:prSet presAssocID="{E66E987B-E723-4BDE-AB68-E3784C47F87E}" presName="rootText" presStyleLbl="node1" presStyleIdx="0" presStyleCnt="3"/>
      <dgm:spPr/>
    </dgm:pt>
    <dgm:pt modelId="{3727CDE4-03CE-43B7-9162-95C8C9B47A3A}" type="pres">
      <dgm:prSet presAssocID="{E66E987B-E723-4BDE-AB68-E3784C47F87E}" presName="rootConnector" presStyleLbl="node1" presStyleIdx="0" presStyleCnt="3"/>
      <dgm:spPr/>
    </dgm:pt>
    <dgm:pt modelId="{790C79F7-BFF1-4C41-98CA-AAC827E3BE07}" type="pres">
      <dgm:prSet presAssocID="{E66E987B-E723-4BDE-AB68-E3784C47F87E}" presName="childShape" presStyleCnt="0"/>
      <dgm:spPr/>
    </dgm:pt>
    <dgm:pt modelId="{E0FAB489-BCDC-4391-B624-42526F5A3CDB}" type="pres">
      <dgm:prSet presAssocID="{735E2FFB-E667-429E-AA08-BE09DD8FAA79}" presName="root" presStyleCnt="0"/>
      <dgm:spPr/>
    </dgm:pt>
    <dgm:pt modelId="{F9799162-3605-4867-AD15-D394E287572D}" type="pres">
      <dgm:prSet presAssocID="{735E2FFB-E667-429E-AA08-BE09DD8FAA79}" presName="rootComposite" presStyleCnt="0"/>
      <dgm:spPr/>
    </dgm:pt>
    <dgm:pt modelId="{A461A5C8-70DB-4CBD-9B0D-85D03FDF95C2}" type="pres">
      <dgm:prSet presAssocID="{735E2FFB-E667-429E-AA08-BE09DD8FAA79}" presName="rootText" presStyleLbl="node1" presStyleIdx="1" presStyleCnt="3"/>
      <dgm:spPr/>
    </dgm:pt>
    <dgm:pt modelId="{B54DC4F9-3173-41B3-8AF8-B070AAF98F99}" type="pres">
      <dgm:prSet presAssocID="{735E2FFB-E667-429E-AA08-BE09DD8FAA79}" presName="rootConnector" presStyleLbl="node1" presStyleIdx="1" presStyleCnt="3"/>
      <dgm:spPr/>
    </dgm:pt>
    <dgm:pt modelId="{9AB87369-65F6-471F-BFE6-DA38C0032DAD}" type="pres">
      <dgm:prSet presAssocID="{735E2FFB-E667-429E-AA08-BE09DD8FAA79}" presName="childShape" presStyleCnt="0"/>
      <dgm:spPr/>
    </dgm:pt>
    <dgm:pt modelId="{0F6B5B22-9DCC-46CE-AEA5-8C5815F65EB0}" type="pres">
      <dgm:prSet presAssocID="{9C941747-FE7F-4DDD-B3FC-2D97DEF89F97}" presName="root" presStyleCnt="0"/>
      <dgm:spPr/>
    </dgm:pt>
    <dgm:pt modelId="{5B449311-57AA-4E53-888E-13ECEF0C1BC7}" type="pres">
      <dgm:prSet presAssocID="{9C941747-FE7F-4DDD-B3FC-2D97DEF89F97}" presName="rootComposite" presStyleCnt="0"/>
      <dgm:spPr/>
    </dgm:pt>
    <dgm:pt modelId="{706CABE8-A346-4BD3-B459-88F74201286A}" type="pres">
      <dgm:prSet presAssocID="{9C941747-FE7F-4DDD-B3FC-2D97DEF89F97}" presName="rootText" presStyleLbl="node1" presStyleIdx="2" presStyleCnt="3"/>
      <dgm:spPr/>
    </dgm:pt>
    <dgm:pt modelId="{94880E60-58C9-4054-BC04-93E716C4E758}" type="pres">
      <dgm:prSet presAssocID="{9C941747-FE7F-4DDD-B3FC-2D97DEF89F97}" presName="rootConnector" presStyleLbl="node1" presStyleIdx="2" presStyleCnt="3"/>
      <dgm:spPr/>
    </dgm:pt>
    <dgm:pt modelId="{575A9F38-247E-471A-B746-0F7BDC1A9EE1}" type="pres">
      <dgm:prSet presAssocID="{9C941747-FE7F-4DDD-B3FC-2D97DEF89F97}" presName="childShape" presStyleCnt="0"/>
      <dgm:spPr/>
    </dgm:pt>
  </dgm:ptLst>
  <dgm:cxnLst>
    <dgm:cxn modelId="{30B6B40B-3E7E-47B3-8C4D-9D2B75192F1A}" type="presOf" srcId="{DDBFA087-A57B-4B08-90EB-996F2A1CAC48}" destId="{D259B8CB-202E-459C-B0F0-596016C4A7FA}" srcOrd="0" destOrd="0" presId="urn:microsoft.com/office/officeart/2005/8/layout/hierarchy3"/>
    <dgm:cxn modelId="{B4B5CD1E-71E1-4B8C-A7A2-2BC251D15B4C}" srcId="{DDBFA087-A57B-4B08-90EB-996F2A1CAC48}" destId="{E66E987B-E723-4BDE-AB68-E3784C47F87E}" srcOrd="0" destOrd="0" parTransId="{EAD509C1-E0BE-4EDA-9868-3568EDFAB3ED}" sibTransId="{8AFE0914-A529-45F8-84F7-1ED52434E81A}"/>
    <dgm:cxn modelId="{6621DE1E-A166-4D53-9692-4DD669279AB6}" type="presOf" srcId="{E66E987B-E723-4BDE-AB68-E3784C47F87E}" destId="{3727CDE4-03CE-43B7-9162-95C8C9B47A3A}" srcOrd="1" destOrd="0" presId="urn:microsoft.com/office/officeart/2005/8/layout/hierarchy3"/>
    <dgm:cxn modelId="{C86F8677-D788-431B-9030-6756DFC5830E}" type="presOf" srcId="{E66E987B-E723-4BDE-AB68-E3784C47F87E}" destId="{115A7AF2-D023-405D-8201-B24D07898FD2}" srcOrd="0" destOrd="0" presId="urn:microsoft.com/office/officeart/2005/8/layout/hierarchy3"/>
    <dgm:cxn modelId="{B3A4929E-F13B-4060-85E0-5B318BD361B3}" srcId="{DDBFA087-A57B-4B08-90EB-996F2A1CAC48}" destId="{735E2FFB-E667-429E-AA08-BE09DD8FAA79}" srcOrd="1" destOrd="0" parTransId="{1B3E7D5B-C715-4A78-BB84-A39C851D65F3}" sibTransId="{FC39D954-2E96-4B36-BCFC-995840E7B49E}"/>
    <dgm:cxn modelId="{23D3C5A2-036F-4B7A-85D9-BBB89F25CBF1}" srcId="{DDBFA087-A57B-4B08-90EB-996F2A1CAC48}" destId="{9C941747-FE7F-4DDD-B3FC-2D97DEF89F97}" srcOrd="2" destOrd="0" parTransId="{B278D105-F907-4EE3-9084-2185992E92BB}" sibTransId="{903B3CDB-0AB4-4F61-BD32-3FD68D64D1E7}"/>
    <dgm:cxn modelId="{743307A9-4EC1-4A07-B4DD-BF93B2019755}" type="presOf" srcId="{735E2FFB-E667-429E-AA08-BE09DD8FAA79}" destId="{B54DC4F9-3173-41B3-8AF8-B070AAF98F99}" srcOrd="1" destOrd="0" presId="urn:microsoft.com/office/officeart/2005/8/layout/hierarchy3"/>
    <dgm:cxn modelId="{F3910AE2-9AF0-41EA-A801-E38F7F7E2BE0}" type="presOf" srcId="{9C941747-FE7F-4DDD-B3FC-2D97DEF89F97}" destId="{94880E60-58C9-4054-BC04-93E716C4E758}" srcOrd="1" destOrd="0" presId="urn:microsoft.com/office/officeart/2005/8/layout/hierarchy3"/>
    <dgm:cxn modelId="{E8FDBFEC-C0A6-478D-AAD6-859161E0DA68}" type="presOf" srcId="{9C941747-FE7F-4DDD-B3FC-2D97DEF89F97}" destId="{706CABE8-A346-4BD3-B459-88F74201286A}" srcOrd="0" destOrd="0" presId="urn:microsoft.com/office/officeart/2005/8/layout/hierarchy3"/>
    <dgm:cxn modelId="{FD7450F2-BCE3-4752-9A1D-A2ACA04DC00E}" type="presOf" srcId="{735E2FFB-E667-429E-AA08-BE09DD8FAA79}" destId="{A461A5C8-70DB-4CBD-9B0D-85D03FDF95C2}" srcOrd="0" destOrd="0" presId="urn:microsoft.com/office/officeart/2005/8/layout/hierarchy3"/>
    <dgm:cxn modelId="{F34F61D9-58B4-4266-9E3B-9EEDC896CB7B}" type="presParOf" srcId="{D259B8CB-202E-459C-B0F0-596016C4A7FA}" destId="{A1798040-048D-4345-8C81-6D51D38FC501}" srcOrd="0" destOrd="0" presId="urn:microsoft.com/office/officeart/2005/8/layout/hierarchy3"/>
    <dgm:cxn modelId="{AC110384-5ECF-4253-9EB3-C439D58CDD95}" type="presParOf" srcId="{A1798040-048D-4345-8C81-6D51D38FC501}" destId="{E4C622DE-25E9-4B27-A29B-B7EB401F45BF}" srcOrd="0" destOrd="0" presId="urn:microsoft.com/office/officeart/2005/8/layout/hierarchy3"/>
    <dgm:cxn modelId="{B0FD45CC-1603-4A1A-89BB-38047668BC34}" type="presParOf" srcId="{E4C622DE-25E9-4B27-A29B-B7EB401F45BF}" destId="{115A7AF2-D023-405D-8201-B24D07898FD2}" srcOrd="0" destOrd="0" presId="urn:microsoft.com/office/officeart/2005/8/layout/hierarchy3"/>
    <dgm:cxn modelId="{2F7A253A-0A1B-46C9-837F-1F97C60E8E9C}" type="presParOf" srcId="{E4C622DE-25E9-4B27-A29B-B7EB401F45BF}" destId="{3727CDE4-03CE-43B7-9162-95C8C9B47A3A}" srcOrd="1" destOrd="0" presId="urn:microsoft.com/office/officeart/2005/8/layout/hierarchy3"/>
    <dgm:cxn modelId="{4CDCAFF4-B545-4F97-8C48-F9F9C01B4A96}" type="presParOf" srcId="{A1798040-048D-4345-8C81-6D51D38FC501}" destId="{790C79F7-BFF1-4C41-98CA-AAC827E3BE07}" srcOrd="1" destOrd="0" presId="urn:microsoft.com/office/officeart/2005/8/layout/hierarchy3"/>
    <dgm:cxn modelId="{B7C20FB5-08A4-40BC-B732-D4079EA26A6D}" type="presParOf" srcId="{D259B8CB-202E-459C-B0F0-596016C4A7FA}" destId="{E0FAB489-BCDC-4391-B624-42526F5A3CDB}" srcOrd="1" destOrd="0" presId="urn:microsoft.com/office/officeart/2005/8/layout/hierarchy3"/>
    <dgm:cxn modelId="{A81F4BB5-352D-49C4-AE26-1D6850020D2D}" type="presParOf" srcId="{E0FAB489-BCDC-4391-B624-42526F5A3CDB}" destId="{F9799162-3605-4867-AD15-D394E287572D}" srcOrd="0" destOrd="0" presId="urn:microsoft.com/office/officeart/2005/8/layout/hierarchy3"/>
    <dgm:cxn modelId="{E43E0B6D-2EE7-41C2-A006-770CE89A0325}" type="presParOf" srcId="{F9799162-3605-4867-AD15-D394E287572D}" destId="{A461A5C8-70DB-4CBD-9B0D-85D03FDF95C2}" srcOrd="0" destOrd="0" presId="urn:microsoft.com/office/officeart/2005/8/layout/hierarchy3"/>
    <dgm:cxn modelId="{924C7162-EFCD-45DE-A0E3-E73D4D362843}" type="presParOf" srcId="{F9799162-3605-4867-AD15-D394E287572D}" destId="{B54DC4F9-3173-41B3-8AF8-B070AAF98F99}" srcOrd="1" destOrd="0" presId="urn:microsoft.com/office/officeart/2005/8/layout/hierarchy3"/>
    <dgm:cxn modelId="{871B805F-47B0-43F4-B292-4AED6DBF0EB5}" type="presParOf" srcId="{E0FAB489-BCDC-4391-B624-42526F5A3CDB}" destId="{9AB87369-65F6-471F-BFE6-DA38C0032DAD}" srcOrd="1" destOrd="0" presId="urn:microsoft.com/office/officeart/2005/8/layout/hierarchy3"/>
    <dgm:cxn modelId="{3E7EE253-4E01-40D7-920F-BCB7C6C1087D}" type="presParOf" srcId="{D259B8CB-202E-459C-B0F0-596016C4A7FA}" destId="{0F6B5B22-9DCC-46CE-AEA5-8C5815F65EB0}" srcOrd="2" destOrd="0" presId="urn:microsoft.com/office/officeart/2005/8/layout/hierarchy3"/>
    <dgm:cxn modelId="{6912D7F3-5E14-46C1-8416-065500F6A594}" type="presParOf" srcId="{0F6B5B22-9DCC-46CE-AEA5-8C5815F65EB0}" destId="{5B449311-57AA-4E53-888E-13ECEF0C1BC7}" srcOrd="0" destOrd="0" presId="urn:microsoft.com/office/officeart/2005/8/layout/hierarchy3"/>
    <dgm:cxn modelId="{BAD713C4-162A-4CA5-B6AC-85FF5D132470}" type="presParOf" srcId="{5B449311-57AA-4E53-888E-13ECEF0C1BC7}" destId="{706CABE8-A346-4BD3-B459-88F74201286A}" srcOrd="0" destOrd="0" presId="urn:microsoft.com/office/officeart/2005/8/layout/hierarchy3"/>
    <dgm:cxn modelId="{090A31C6-B142-4976-AB03-312681E89ABB}" type="presParOf" srcId="{5B449311-57AA-4E53-888E-13ECEF0C1BC7}" destId="{94880E60-58C9-4054-BC04-93E716C4E758}" srcOrd="1" destOrd="0" presId="urn:microsoft.com/office/officeart/2005/8/layout/hierarchy3"/>
    <dgm:cxn modelId="{8DB21B11-A4F1-4E72-8CF2-ED3445C276F3}" type="presParOf" srcId="{0F6B5B22-9DCC-46CE-AEA5-8C5815F65EB0}" destId="{575A9F38-247E-471A-B746-0F7BDC1A9EE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A7AF2-D023-405D-8201-B24D07898FD2}">
      <dsp:nvSpPr>
        <dsp:cNvPr id="0" name=""/>
        <dsp:cNvSpPr/>
      </dsp:nvSpPr>
      <dsp:spPr>
        <a:xfrm>
          <a:off x="1277" y="624093"/>
          <a:ext cx="2990027" cy="14950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/>
            <a:t>J. GOPI KRISHNA  –  231FA18141</a:t>
          </a:r>
          <a:endParaRPr lang="en-US" sz="2900" kern="1200"/>
        </a:p>
      </dsp:txBody>
      <dsp:txXfrm>
        <a:off x="45064" y="667880"/>
        <a:ext cx="2902453" cy="1407439"/>
      </dsp:txXfrm>
    </dsp:sp>
    <dsp:sp modelId="{A461A5C8-70DB-4CBD-9B0D-85D03FDF95C2}">
      <dsp:nvSpPr>
        <dsp:cNvPr id="0" name=""/>
        <dsp:cNvSpPr/>
      </dsp:nvSpPr>
      <dsp:spPr>
        <a:xfrm>
          <a:off x="3738812" y="624093"/>
          <a:ext cx="2990027" cy="14950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i="0" kern="1200"/>
            <a:t>P. KUMAR              -  231FA18062</a:t>
          </a:r>
          <a:endParaRPr lang="en-US" sz="2900" kern="1200"/>
        </a:p>
      </dsp:txBody>
      <dsp:txXfrm>
        <a:off x="3782599" y="667880"/>
        <a:ext cx="2902453" cy="1407439"/>
      </dsp:txXfrm>
    </dsp:sp>
    <dsp:sp modelId="{706CABE8-A346-4BD3-B459-88F74201286A}">
      <dsp:nvSpPr>
        <dsp:cNvPr id="0" name=""/>
        <dsp:cNvSpPr/>
      </dsp:nvSpPr>
      <dsp:spPr>
        <a:xfrm>
          <a:off x="7476347" y="624093"/>
          <a:ext cx="2990027" cy="14950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i="0" kern="1200"/>
            <a:t>K. ANANAD            -  231FA18427</a:t>
          </a:r>
          <a:endParaRPr lang="en-US" sz="2900" kern="1200"/>
        </a:p>
      </dsp:txBody>
      <dsp:txXfrm>
        <a:off x="7520134" y="667880"/>
        <a:ext cx="2902453" cy="1407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4421221"/>
            <a:ext cx="10478450" cy="91440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335373"/>
            <a:ext cx="10478450" cy="7315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CC9A669-A9A2-C81A-7659-2BE084D43C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6B6C58C-A09F-CD8C-3AD4-3613FA8617A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7057" y="451993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79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75" y="831439"/>
            <a:ext cx="10440990" cy="113225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75" y="2103120"/>
            <a:ext cx="10440989" cy="357729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C4ECD9-5950-288D-F0E8-15AB93A0C1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532546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97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073" y="2920382"/>
            <a:ext cx="6675120" cy="246888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73" y="5413788"/>
            <a:ext cx="6675120" cy="64008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85760" y="0"/>
            <a:ext cx="4206240" cy="6858000"/>
          </a:xfrm>
          <a:blipFill dpi="0" rotWithShape="1">
            <a:blip r:embed="rId2">
              <a:alphaModFix amt="60000"/>
            </a:blip>
            <a:srcRect/>
            <a:stretch>
              <a:fillRect l="-5681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EFB6B4-A1CA-B788-D366-460FCF81670F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164" y="189337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4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832850"/>
            <a:ext cx="7478991" cy="3635797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4526561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5969981-6F14-05AD-84BE-60811ABC8EE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4895" y="91186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97280"/>
            <a:ext cx="7876287" cy="359262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057409"/>
            <a:ext cx="7375466" cy="101498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5D914E6-8049-9561-C97E-2ED8FCDB89E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5403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24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AB9D02-BDB0-5420-CBA2-3044DDB6D79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77712" y="67962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B7FFBE8-95FC-A978-8212-6B5D8F34CC6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047762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8461" y="1561943"/>
            <a:ext cx="4681728" cy="456982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DA51E07-C561-85B3-141B-4157C0521F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5994" cy="6858000"/>
          </a:xfr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702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1C35429-0BEB-CBD1-23C7-BE3E81942C9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" y="1196492"/>
            <a:ext cx="10107029" cy="493527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336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" y="1196492"/>
            <a:ext cx="4800600" cy="493527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F85F708B-992C-821E-50D2-07A27EDFA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6" y="0"/>
            <a:ext cx="609599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C35429-0BEB-CBD1-23C7-BE3E81942C9C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85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9F53EAF-F066-AFDA-2C25-8F96143C7AF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4895" y="911860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0063"/>
            <a:ext cx="8467558" cy="1554480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816" y="2380995"/>
            <a:ext cx="8869680" cy="329184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52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5577962" cy="480713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11808" y="1884121"/>
            <a:ext cx="3596952" cy="4151675"/>
          </a:xfrm>
        </p:spPr>
        <p:txBody>
          <a:bodyPr anchor="b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752392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848" y="80351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2150" y="799483"/>
            <a:ext cx="4429566" cy="365125"/>
          </a:xfrm>
        </p:spPr>
        <p:txBody>
          <a:bodyPr/>
          <a:lstStyle>
            <a:lvl1pPr algn="ctr">
              <a:defRPr/>
            </a:lvl1pPr>
          </a:lstStyle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66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3234184" cy="4202629"/>
          </a:xfrm>
        </p:spPr>
        <p:txBody>
          <a:bodyPr anchor="ctr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524" y="1353163"/>
            <a:ext cx="3596952" cy="4151675"/>
          </a:xfrm>
        </p:spPr>
        <p:txBody>
          <a:bodyPr anchor="ctr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9576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813816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386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4732B46-F1F0-7522-FC25-AABA628DA30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104188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4552002"/>
            <a:ext cx="4663440" cy="1554480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2FFB4D-B5E7-3882-7509-50FC147AD0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3544" y="941832"/>
            <a:ext cx="4179742" cy="2992856"/>
          </a:xfrm>
          <a:blipFill dpi="0" rotWithShape="1">
            <a:blip r:embed="rId4">
              <a:alphaModFix amt="60000"/>
            </a:blip>
            <a:srcRect/>
            <a:stretch>
              <a:fillRect l="-3918" t="-835" b="-33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816682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65388" y="2718978"/>
            <a:ext cx="4663440" cy="3337560"/>
          </a:xfrm>
        </p:spPr>
        <p:txBody>
          <a:bodyPr anchor="b" anchorCtr="0"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87598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1C55ED2-79AB-08DC-6DCF-C07F6CBD227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189" y="1217512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04" y="2385975"/>
            <a:ext cx="4325112" cy="24547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398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6383B9E-F152-84FC-BD1D-4F84C5670DA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57799" y="5660464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" y="2819320"/>
            <a:ext cx="4372547" cy="28346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B0E68BA-9AEE-909E-56B9-A14C4D9AD3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2171156"/>
          </a:xfrm>
          <a:blipFill dpi="0" rotWithShape="1">
            <a:blip r:embed="rId4">
              <a:alphaModFix amt="60000"/>
            </a:blip>
            <a:srcRect/>
            <a:stretch>
              <a:fillRect l="1" t="1" r="-5" b="-37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815002"/>
            <a:ext cx="5162550" cy="283464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53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37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8082"/>
            <a:ext cx="4145582" cy="46388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7419" y="848517"/>
            <a:ext cx="5681662" cy="48180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66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59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50392"/>
            <a:ext cx="4142232" cy="494066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7607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66305"/>
            <a:ext cx="6159500" cy="539082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18823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01" y="842957"/>
            <a:ext cx="3494314" cy="476817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65504"/>
            <a:ext cx="6766560" cy="5093862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800"/>
            </a:lvl1pPr>
            <a:lvl2pPr>
              <a:lnSpc>
                <a:spcPct val="90000"/>
              </a:lnSpc>
              <a:defRPr sz="16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11192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209" y="868680"/>
            <a:ext cx="6093225" cy="11430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37529" cy="6858000"/>
          </a:xfrm>
          <a:blipFill dpi="0" rotWithShape="1">
            <a:blip r:embed="rId2">
              <a:alphaModFix amt="60000"/>
            </a:blip>
            <a:srcRect/>
            <a:stretch>
              <a:fillRect r="-803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9833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6209" y="2017058"/>
            <a:ext cx="6071616" cy="448970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23774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190" y="82296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17903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90472" y="457200"/>
            <a:ext cx="184708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316" y="2057402"/>
            <a:ext cx="6135624" cy="44897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81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854" y="829325"/>
            <a:ext cx="6858000" cy="93268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429000" cy="6858000"/>
          </a:xfrm>
          <a:blipFill dpi="0" rotWithShape="1">
            <a:blip r:embed="rId2">
              <a:alphaModFix amt="60000"/>
            </a:blip>
            <a:srcRect/>
            <a:stretch>
              <a:fillRect r="-1733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5476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8854" y="1878456"/>
            <a:ext cx="6858000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93637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046" y="4257446"/>
            <a:ext cx="4297661" cy="1852154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F2A913F-34E8-6AA3-93B1-82EC2684015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348844" y="5660464"/>
            <a:ext cx="36576" cy="521208"/>
          </a:xfrm>
          <a:prstGeom prst="rect">
            <a:avLst/>
          </a:prstGeom>
        </p:spPr>
      </p:pic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A9DF44A2-0708-C962-D4F6-461FBBBE26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5034" y="849445"/>
            <a:ext cx="4173673" cy="2913664"/>
          </a:xfrm>
          <a:blipFill dpi="0" rotWithShape="1">
            <a:blip r:embed="rId4">
              <a:alphaModFix amt="60000"/>
            </a:blip>
            <a:srcRect/>
            <a:stretch>
              <a:fillRect b="159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12179" y="849444"/>
            <a:ext cx="5295472" cy="483489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5719845"/>
            <a:ext cx="1847088" cy="38975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28411" y="5746499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544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038" y="832804"/>
            <a:ext cx="436168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 l="-1" r="-8457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08975" y="2467805"/>
            <a:ext cx="4362450" cy="4095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875427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23" y="2132530"/>
            <a:ext cx="4961795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A2C06F4-46D4-E31A-FE24-FA262F307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09016"/>
            <a:ext cx="5685399" cy="503996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D34A61-0B4C-7668-21C4-92101CEE4BE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267" y="1217512"/>
            <a:ext cx="36576" cy="52120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33023" y="3788229"/>
            <a:ext cx="4961795" cy="191922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6428" y="572028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3273" y="5720287"/>
            <a:ext cx="2805405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803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094" y="825703"/>
            <a:ext cx="4522936" cy="932688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672379" cy="6858000"/>
          </a:xfrm>
          <a:blipFill dpi="0" rotWithShape="1">
            <a:blip r:embed="rId2">
              <a:alphaModFix amt="60000"/>
            </a:blip>
            <a:srcRect/>
            <a:stretch>
              <a:fillRect r="-1445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48429" y="1789540"/>
            <a:ext cx="4512601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985879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73104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585" y="4572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2618" y="457200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1933808"/>
            <a:ext cx="4572000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3CD55653-C8C9-068F-CF5A-7E1436D7EF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9621" y="0"/>
            <a:ext cx="5672379" cy="6858000"/>
          </a:xfrm>
          <a:blipFill dpi="0" rotWithShape="1">
            <a:blip r:embed="rId2">
              <a:alphaModFix amt="60000"/>
            </a:blip>
            <a:srcRect/>
            <a:stretch>
              <a:fillRect r="-1445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7263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6298" y="831603"/>
            <a:ext cx="340156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038109" cy="6858000"/>
          </a:xfrm>
          <a:blipFill dpi="0" rotWithShape="1">
            <a:blip r:embed="rId2">
              <a:alphaModFix amt="60000"/>
            </a:blip>
            <a:srcRect/>
            <a:stretch>
              <a:fillRect r="-775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6425" y="2379232"/>
            <a:ext cx="3401568" cy="4095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09857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2960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269" y="4572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457200"/>
            <a:ext cx="184708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2377440"/>
            <a:ext cx="3401568" cy="40957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935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417" y="822516"/>
            <a:ext cx="3273552" cy="1942773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220197" cy="6858000"/>
          </a:xfrm>
          <a:blipFill dpi="0" rotWithShape="1">
            <a:blip r:embed="rId2">
              <a:alphaModFix amt="60000"/>
            </a:blip>
            <a:srcRect/>
            <a:stretch>
              <a:fillRect l="1" r="-777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411" y="2778536"/>
            <a:ext cx="3273552" cy="29260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7743" y="571464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7220" y="5715000"/>
            <a:ext cx="2335165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292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3" y="4299577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692106"/>
          </a:xfrm>
          <a:blipFill dpi="0" rotWithShape="1">
            <a:blip r:embed="rId2">
              <a:alphaModFix amt="60000"/>
            </a:blip>
            <a:srcRect/>
            <a:stretch>
              <a:fillRect t="-1" b="-2554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299576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690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3791259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141683"/>
          </a:xfrm>
          <a:blipFill dpi="0" rotWithShape="1">
            <a:blip r:embed="rId2">
              <a:alphaModFix amt="60000"/>
            </a:blip>
            <a:srcRect/>
            <a:stretch>
              <a:fillRect t="2" b="-2026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791259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00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23" y="833527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833527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3993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3503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9210" y="1828800"/>
            <a:ext cx="5701655" cy="40882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104" y="594360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5943600"/>
            <a:ext cx="184577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047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4645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4" y="2971800"/>
            <a:ext cx="4219217" cy="2968589"/>
          </a:xfrm>
          <a:blipFill dpi="0" rotWithShape="1">
            <a:blip r:embed="rId2">
              <a:alphaModFix amt="60000"/>
            </a:blip>
            <a:srcRect/>
            <a:stretch>
              <a:fillRect l="148" t="-11888" r="-148" b="-1104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104" y="594360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5943600"/>
            <a:ext cx="184577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4950" y="838031"/>
            <a:ext cx="5585925" cy="57832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04261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8825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473" y="2662694"/>
            <a:ext cx="2826675" cy="327330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84806-6EE6-E9E7-C756-577E511C94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0476" y="59436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E95BE-BAAA-0962-1F37-8E80B5075B4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90553" y="59436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8493" y="840587"/>
            <a:ext cx="6561138" cy="60350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578048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688" y="4318002"/>
            <a:ext cx="3741303" cy="1727191"/>
          </a:xfrm>
        </p:spPr>
        <p:txBody>
          <a:bodyPr anchor="b" anchorCtr="0">
            <a:normAutofit/>
          </a:bodyPr>
          <a:lstStyle>
            <a:lvl1pPr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603503"/>
            <a:ext cx="10535513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12892AD-A824-80C0-23D0-A50E8E6086C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215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0ABD31F-6790-1046-FAA9-F005395197D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074" y="4520514"/>
            <a:ext cx="7525512" cy="1545336"/>
          </a:xfrm>
        </p:spPr>
        <p:txBody>
          <a:bodyPr anchor="b" anchorCtr="0">
            <a:normAutofit/>
          </a:bodyPr>
          <a:lstStyle>
            <a:lvl1pPr algn="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912730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3D60A-2641-9137-7CFC-67D9635788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9D38F-DE10-E2BB-5C22-9A8C0781F1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470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898" y="1318437"/>
            <a:ext cx="4368688" cy="4747413"/>
          </a:xfrm>
        </p:spPr>
        <p:txBody>
          <a:bodyPr anchor="b" anchorCtr="0">
            <a:normAutofit/>
          </a:bodyPr>
          <a:lstStyle>
            <a:lvl1pPr algn="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1318437"/>
            <a:ext cx="5318760" cy="533542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17F8DEA-3543-B752-B9E3-AC000CAB467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2F7EA-5D69-7C1B-CCA8-B001A58AE3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69680" y="722163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5CC0F-ADA3-ABFA-0894-792752304D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36224" y="722163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525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17F66D-47D7-5FE5-3A3F-34A22FF6A16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77712" y="5660464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558436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84023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9366FF-A392-C240-F718-4B73E04621E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77712" y="5660464"/>
            <a:ext cx="36576" cy="52120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 algn="ctr">
              <a:lnSpc>
                <a:spcPct val="100000"/>
              </a:lnSpc>
              <a:buNone/>
              <a:defRPr sz="3600" b="1" i="0" cap="all" spc="50" baseline="0">
                <a:latin typeface="+mj-lt"/>
                <a:cs typeface="Poppins" pitchFamily="2" charset="77"/>
              </a:defRPr>
            </a:lvl2pPr>
            <a:lvl3pPr marL="457200" indent="0" algn="ctr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3pPr>
            <a:lvl4pPr marL="685800" indent="0" algn="ctr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4pPr>
            <a:lvl5pPr marL="914400" indent="0" algn="ctr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2514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20A179-8E3E-2B95-A97F-C6829695293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148" y="921438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3816" y="1996848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2pPr>
            <a:lvl3pPr marL="457200" indent="0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3pPr>
            <a:lvl4pPr marL="685800" indent="0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4pPr>
            <a:lvl5pPr marL="914400" indent="0">
              <a:lnSpc>
                <a:spcPct val="100000"/>
              </a:lnSpc>
              <a:buNone/>
              <a:defRPr sz="20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49345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681" y="760672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2pPr>
            <a:lvl3pPr marL="457200" indent="0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3pPr>
            <a:lvl4pPr marL="685800" indent="0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4pPr>
            <a:lvl5pPr marL="914400" indent="0">
              <a:lnSpc>
                <a:spcPct val="100000"/>
              </a:lnSpc>
              <a:buNone/>
              <a:defRPr sz="20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584083-25C0-4BCD-77BF-0F4B50C89CE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0986884" y="676656"/>
            <a:ext cx="36576" cy="5212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9D7C9-2DBC-E12A-4A0F-59AD76DB11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58948-847F-22CD-2AA2-CF3475976F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3622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04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0" y="5601041"/>
            <a:ext cx="8229600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025C941-1D26-5955-DC05-31D96A1D00E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0983213" y="5660464"/>
            <a:ext cx="36576" cy="52120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2280" y="776028"/>
            <a:ext cx="8229600" cy="45720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1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79534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4802977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537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444" y="457200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7720" y="9448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1" i="0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7286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23" y="829551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723" y="1980371"/>
            <a:ext cx="518160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9148" y="1980371"/>
            <a:ext cx="518160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588687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615443"/>
            <a:ext cx="3437583" cy="409920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7FBFB58-BD7D-0E9B-7D02-1BE0CDCEA4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972457"/>
          </a:xfrm>
          <a:blipFill dpi="0" rotWithShape="1">
            <a:blip r:embed="rId2">
              <a:alphaModFix amt="60000"/>
            </a:blip>
            <a:srcRect/>
            <a:stretch>
              <a:fillRect l="1" t="1" r="-5" b="-48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1840" y="1615442"/>
            <a:ext cx="6119865" cy="201168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  <a:lvl2pPr marL="228600" indent="0">
              <a:lnSpc>
                <a:spcPct val="90000"/>
              </a:lnSpc>
              <a:buNone/>
              <a:defRPr sz="1600"/>
            </a:lvl2pPr>
            <a:lvl3pPr marL="457200" indent="0">
              <a:lnSpc>
                <a:spcPct val="90000"/>
              </a:lnSpc>
              <a:buNone/>
              <a:defRPr sz="1400"/>
            </a:lvl3pPr>
            <a:lvl4pPr marL="685800" indent="0">
              <a:lnSpc>
                <a:spcPct val="90000"/>
              </a:lnSpc>
              <a:buNone/>
              <a:defRPr sz="1200"/>
            </a:lvl4pPr>
            <a:lvl5pPr marL="914400" indent="0">
              <a:lnSpc>
                <a:spcPct val="90000"/>
              </a:lnSpc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48775" y="3945380"/>
            <a:ext cx="6119865" cy="201168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  <a:lvl2pPr marL="228600" indent="0">
              <a:lnSpc>
                <a:spcPct val="90000"/>
              </a:lnSpc>
              <a:buNone/>
              <a:defRPr sz="1600"/>
            </a:lvl2pPr>
            <a:lvl3pPr marL="457200" indent="0">
              <a:lnSpc>
                <a:spcPct val="90000"/>
              </a:lnSpc>
              <a:buNone/>
              <a:defRPr sz="1400"/>
            </a:lvl3pPr>
            <a:lvl4pPr marL="685800" indent="0">
              <a:lnSpc>
                <a:spcPct val="90000"/>
              </a:lnSpc>
              <a:buNone/>
              <a:defRPr sz="1200"/>
            </a:lvl4pPr>
            <a:lvl5pPr marL="914400" indent="0">
              <a:lnSpc>
                <a:spcPct val="90000"/>
              </a:lnSpc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59436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5943600"/>
            <a:ext cx="1845772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3887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830733"/>
            <a:ext cx="10439463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625" y="2007011"/>
            <a:ext cx="49377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all" baseline="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0246" y="2007011"/>
            <a:ext cx="49377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all" baseline="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625" y="2708876"/>
            <a:ext cx="4937760" cy="3763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0246" y="2708876"/>
            <a:ext cx="4937760" cy="3763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672012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38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831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7531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16" y="2605036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868" y="842371"/>
            <a:ext cx="6440258" cy="575510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671612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94666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16" y="3163019"/>
            <a:ext cx="3585586" cy="343463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89154" y="894665"/>
            <a:ext cx="5685399" cy="503996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934634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59436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955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6874"/>
            <a:ext cx="10467653" cy="2743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F099A399-8358-4832-8F28-17D6ED3E74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5885543"/>
            <a:ext cx="12192000" cy="972457"/>
          </a:xfrm>
          <a:blipFill dpi="0" rotWithShape="1">
            <a:blip r:embed="rId2">
              <a:alphaModFix amt="60000"/>
            </a:blip>
            <a:srcRect/>
            <a:stretch>
              <a:fillRect l="1" t="1" r="-5" b="-48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967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2648"/>
            <a:ext cx="8430767" cy="1842020"/>
          </a:xfrm>
        </p:spPr>
        <p:txBody>
          <a:bodyPr anchor="t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2717420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13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3392"/>
            <a:ext cx="10467653" cy="176953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74E4BF-A9CB-F772-DFA6-C511FFC554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4495800"/>
            <a:ext cx="12191999" cy="2362200"/>
          </a:xfrm>
          <a:blipFill dpi="0" rotWithShape="1">
            <a:blip r:embed="rId2">
              <a:alphaModFix amt="60000"/>
            </a:blip>
            <a:srcRect/>
            <a:stretch>
              <a:fillRect l="1" t="-200" r="-5" b="-3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393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609" y="826658"/>
            <a:ext cx="10447125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609" y="1715532"/>
            <a:ext cx="10447125" cy="4125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476" y="571464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26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828" r:id="rId10"/>
    <p:sldLayoutId id="2147483780" r:id="rId11"/>
    <p:sldLayoutId id="2147483781" r:id="rId12"/>
    <p:sldLayoutId id="2147483826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827" r:id="rId23"/>
    <p:sldLayoutId id="2147483793" r:id="rId24"/>
    <p:sldLayoutId id="2147483794" r:id="rId25"/>
    <p:sldLayoutId id="2147483795" r:id="rId26"/>
    <p:sldLayoutId id="2147483796" r:id="rId27"/>
    <p:sldLayoutId id="2147483797" r:id="rId28"/>
    <p:sldLayoutId id="2147483798" r:id="rId29"/>
    <p:sldLayoutId id="2147483799" r:id="rId30"/>
    <p:sldLayoutId id="2147483800" r:id="rId31"/>
    <p:sldLayoutId id="2147483801" r:id="rId32"/>
    <p:sldLayoutId id="2147483802" r:id="rId33"/>
    <p:sldLayoutId id="2147483803" r:id="rId34"/>
    <p:sldLayoutId id="2147483804" r:id="rId35"/>
    <p:sldLayoutId id="2147483805" r:id="rId36"/>
    <p:sldLayoutId id="2147483806" r:id="rId37"/>
    <p:sldLayoutId id="2147483807" r:id="rId38"/>
    <p:sldLayoutId id="2147483808" r:id="rId39"/>
    <p:sldLayoutId id="2147483809" r:id="rId40"/>
    <p:sldLayoutId id="2147483810" r:id="rId41"/>
    <p:sldLayoutId id="2147483811" r:id="rId42"/>
    <p:sldLayoutId id="2147483812" r:id="rId43"/>
    <p:sldLayoutId id="2147483813" r:id="rId44"/>
    <p:sldLayoutId id="2147483814" r:id="rId45"/>
    <p:sldLayoutId id="2147483815" r:id="rId46"/>
    <p:sldLayoutId id="2147483816" r:id="rId47"/>
    <p:sldLayoutId id="2147483817" r:id="rId48"/>
    <p:sldLayoutId id="2147483818" r:id="rId49"/>
    <p:sldLayoutId id="2147483819" r:id="rId50"/>
    <p:sldLayoutId id="2147483820" r:id="rId51"/>
    <p:sldLayoutId id="2147483821" r:id="rId52"/>
    <p:sldLayoutId id="2147483822" r:id="rId53"/>
    <p:sldLayoutId id="2147483823" r:id="rId54"/>
    <p:sldLayoutId id="2147483825" r:id="rId55"/>
    <p:sldLayoutId id="2147483824" r:id="rId5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spc="50" baseline="0">
          <a:solidFill>
            <a:schemeClr val="tx1"/>
          </a:solidFill>
          <a:latin typeface="+mj-lt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1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FBEB139-49D2-8D04-86D2-09C06D00D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073" y="2920382"/>
            <a:ext cx="6675120" cy="2468880"/>
          </a:xfrm>
        </p:spPr>
        <p:txBody>
          <a:bodyPr anchor="t">
            <a:normAutofit/>
          </a:bodyPr>
          <a:lstStyle/>
          <a:p>
            <a:r>
              <a:rPr lang="en-US"/>
              <a:t>REINFORCEMENT LEARNING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A8D9FA2-302E-0315-171F-48BC54215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73" y="5413788"/>
            <a:ext cx="6675120" cy="640080"/>
          </a:xfrm>
        </p:spPr>
        <p:txBody>
          <a:bodyPr anchor="b">
            <a:normAutofit/>
          </a:bodyPr>
          <a:lstStyle/>
          <a:p>
            <a:r>
              <a:rPr lang="en-US" dirty="0"/>
              <a:t>Submited To : </a:t>
            </a:r>
            <a:r>
              <a:rPr lang="en-US" b="1" dirty="0"/>
              <a:t>Mr. B. Satya Sai</a:t>
            </a:r>
          </a:p>
        </p:txBody>
      </p:sp>
      <p:pic>
        <p:nvPicPr>
          <p:cNvPr id="13" name="Picture Placeholder 12" descr="Clouds on top of the mountain">
            <a:extLst>
              <a:ext uri="{FF2B5EF4-FFF2-40B4-BE49-F238E27FC236}">
                <a16:creationId xmlns:a16="http://schemas.microsoft.com/office/drawing/2014/main" id="{DD13310E-0FDB-12DC-3E02-ED0261ABAB3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760" y="10"/>
            <a:ext cx="420624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334291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70BCB1-1398-488A-AB5B-1A8A2227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BATCH - 09</a:t>
            </a:r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A8BC62F8-957B-49C4-F6C6-EA0F95B7E12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08457598"/>
              </p:ext>
            </p:extLst>
          </p:nvPr>
        </p:nvGraphicFramePr>
        <p:xfrm>
          <a:off x="815390" y="1996874"/>
          <a:ext cx="10467653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07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4A763E2-FF38-A0E1-FBA1-2251C2A9B7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6686" y="771787"/>
                <a:ext cx="12105314" cy="4819475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Consider the grid-world shown in the figure where each cell represents a state and the arrows indicate immediate rewards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IN" dirty="0"/>
                  <a:t>for taking an action in that state. The terminal state </a:t>
                </a:r>
                <a:r>
                  <a:rPr lang="en-IN" b="1" dirty="0"/>
                  <a:t>G</a:t>
                </a:r>
                <a:r>
                  <a:rPr lang="en-IN" dirty="0"/>
                  <a:t> gives a reward of </a:t>
                </a:r>
                <a:r>
                  <a:rPr lang="en-IN" b="1" dirty="0"/>
                  <a:t>+100</a:t>
                </a:r>
                <a:r>
                  <a:rPr lang="en-IN" dirty="0"/>
                  <a:t> and ends the episode. Assume discount factor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IN" dirty="0"/>
                  <a:t>and initial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/>
                  <a:t>for all state–action pairs. The agent follows the action sequence shown below during learning.</a:t>
                </a:r>
                <a:br>
                  <a:rPr lang="en-IN" dirty="0"/>
                </a:br>
                <a:r>
                  <a:rPr lang="en-IN" b="1" dirty="0"/>
                  <a:t>a)</a:t>
                </a:r>
                <a:br>
                  <a:rPr lang="en-IN" b="1" dirty="0"/>
                </a:br>
                <a:r>
                  <a:rPr lang="en-IN" dirty="0"/>
                  <a:t>Write the Q-learning update equation.</a:t>
                </a:r>
                <a:br>
                  <a:rPr lang="en-IN" dirty="0"/>
                </a:br>
                <a:r>
                  <a:rPr lang="en-IN" b="1" dirty="0"/>
                  <a:t>b)</a:t>
                </a:r>
                <a:br>
                  <a:rPr lang="en-IN" b="1" dirty="0"/>
                </a:br>
                <a:r>
                  <a:rPr lang="en-IN" dirty="0"/>
                  <a:t>If the agent starts from the bottom-left state and moves</a:t>
                </a:r>
                <a:br>
                  <a:rPr lang="en-IN" dirty="0"/>
                </a:br>
                <a:r>
                  <a:rPr lang="en-IN" b="1" dirty="0"/>
                  <a:t>Right → Right → Up → Right → Right to reach goal</a:t>
                </a:r>
                <a:r>
                  <a:rPr lang="en-IN" dirty="0"/>
                  <a:t>,</a:t>
                </a:r>
                <a:br>
                  <a:rPr lang="en-IN" dirty="0"/>
                </a:br>
                <a:r>
                  <a:rPr lang="en-IN" dirty="0"/>
                  <a:t>compute the updated Q-values after this episode.</a:t>
                </a:r>
                <a:br>
                  <a:rPr lang="en-IN" dirty="0"/>
                </a:br>
                <a:r>
                  <a:rPr lang="en-IN" b="1" dirty="0"/>
                  <a:t>c)</a:t>
                </a:r>
                <a:br>
                  <a:rPr lang="en-IN" b="1" dirty="0"/>
                </a:br>
                <a:r>
                  <a:rPr lang="en-IN" dirty="0"/>
                  <a:t>Identify which state–action pair gets the maximum Q-value after this episode and justify why.</a:t>
                </a:r>
                <a:br>
                  <a:rPr lang="en-IN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4A763E2-FF38-A0E1-FBA1-2251C2A9B7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6686" y="771787"/>
                <a:ext cx="12105314" cy="4819475"/>
              </a:xfrm>
              <a:blipFill>
                <a:blip r:embed="rId2"/>
                <a:stretch>
                  <a:fillRect l="-504" r="-6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56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E61352-1920-1A62-43A4-937BFCA57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516" y="255172"/>
            <a:ext cx="7747367" cy="835397"/>
          </a:xfrm>
        </p:spPr>
        <p:txBody>
          <a:bodyPr/>
          <a:lstStyle/>
          <a:p>
            <a:r>
              <a:rPr lang="en-IN" dirty="0"/>
              <a:t>(a) Q-Learning Update Equation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C1E19BD-5A90-6858-1019-900A42DDACD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136573" y="925223"/>
                <a:ext cx="10219776" cy="60157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dirty="0"/>
                  <a:t>The </a:t>
                </a:r>
                <a:r>
                  <a:rPr lang="en-IN" b="1" dirty="0"/>
                  <a:t>Q-learning update rule</a:t>
                </a:r>
                <a:r>
                  <a:rPr lang="en-IN" dirty="0"/>
                  <a:t> is used to iteratively update the action-value function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IN" dirty="0"/>
                  <a:t>based on the agent’s experience.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C1E19BD-5A90-6858-1019-900A42DDA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136573" y="925223"/>
                <a:ext cx="10219776" cy="601574"/>
              </a:xfrm>
              <a:blipFill>
                <a:blip r:embed="rId2"/>
                <a:stretch>
                  <a:fillRect l="-477" t="-11224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2">
            <a:extLst>
              <a:ext uri="{FF2B5EF4-FFF2-40B4-BE49-F238E27FC236}">
                <a16:creationId xmlns:a16="http://schemas.microsoft.com/office/drawing/2014/main" id="{5E70F5F7-B5D2-E542-E70C-5837EB2EECA9}"/>
              </a:ext>
            </a:extLst>
          </p:cNvPr>
          <p:cNvSpPr txBox="1">
            <a:spLocks/>
          </p:cNvSpPr>
          <p:nvPr/>
        </p:nvSpPr>
        <p:spPr>
          <a:xfrm>
            <a:off x="1027516" y="1696589"/>
            <a:ext cx="8946994" cy="50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50" baseline="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r>
              <a:rPr lang="en-IN" dirty="0"/>
              <a:t>Q-Learning Update Formula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0CD4B0-4071-B51D-6904-581EC0699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97" y="2398973"/>
            <a:ext cx="6258187" cy="646231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D26827-460E-C9D2-63B5-F5AB09E7D1BA}"/>
              </a:ext>
            </a:extLst>
          </p:cNvPr>
          <p:cNvSpPr txBox="1">
            <a:spLocks/>
          </p:cNvSpPr>
          <p:nvPr/>
        </p:nvSpPr>
        <p:spPr>
          <a:xfrm>
            <a:off x="1027516" y="3108598"/>
            <a:ext cx="1313012" cy="50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50" baseline="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r>
              <a:rPr lang="en-IN" sz="2000" dirty="0"/>
              <a:t>WHere:</a:t>
            </a: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EC44DC-A7EC-903D-0DB4-82C7D81B7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296" y="3548542"/>
            <a:ext cx="6878973" cy="305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70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AC990-929F-8E8C-F2E7-571730A4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A6248E-C35D-9F14-404B-09ADC70BE76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480522" y="857268"/>
                <a:ext cx="10219776" cy="2464772"/>
              </a:xfrm>
            </p:spPr>
            <p:txBody>
              <a:bodyPr>
                <a:normAutofit lnSpcReduction="100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Discount factor: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Initial Q-values: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Terminal reward at </a:t>
                </a:r>
                <a:r>
                  <a:rPr lang="en-IN" b="1" dirty="0"/>
                  <a:t>G</a:t>
                </a:r>
                <a:r>
                  <a:rPr lang="en-IN" dirty="0"/>
                  <a:t> = +100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Action sequence:</a:t>
                </a:r>
                <a:br>
                  <a:rPr lang="en-IN" dirty="0"/>
                </a:br>
                <a:r>
                  <a:rPr lang="en-IN" b="1" dirty="0"/>
                  <a:t>Right → Right → Up → Right → Right</a:t>
                </a:r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Since learning rate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dirty="0"/>
                  <a:t>is not given, we assume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A6248E-C35D-9F14-404B-09ADC70BE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480522" y="857268"/>
                <a:ext cx="10219776" cy="2464772"/>
              </a:xfrm>
              <a:blipFill>
                <a:blip r:embed="rId2"/>
                <a:stretch>
                  <a:fillRect l="-418" t="-27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2">
            <a:extLst>
              <a:ext uri="{FF2B5EF4-FFF2-40B4-BE49-F238E27FC236}">
                <a16:creationId xmlns:a16="http://schemas.microsoft.com/office/drawing/2014/main" id="{ADE861D5-7E03-25E7-C10D-49B36E076ED7}"/>
              </a:ext>
            </a:extLst>
          </p:cNvPr>
          <p:cNvSpPr txBox="1">
            <a:spLocks/>
          </p:cNvSpPr>
          <p:nvPr/>
        </p:nvSpPr>
        <p:spPr>
          <a:xfrm>
            <a:off x="1295964" y="357009"/>
            <a:ext cx="1313012" cy="50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50" baseline="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r>
              <a:rPr lang="en-IN" sz="2000" dirty="0"/>
              <a:t>Given:</a:t>
            </a:r>
            <a:endParaRPr lang="en-US" sz="20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F8D08300-D51B-DE4C-8C73-B6E9D3B246BE}"/>
              </a:ext>
            </a:extLst>
          </p:cNvPr>
          <p:cNvSpPr txBox="1">
            <a:spLocks/>
          </p:cNvSpPr>
          <p:nvPr/>
        </p:nvSpPr>
        <p:spPr>
          <a:xfrm>
            <a:off x="1480521" y="3429000"/>
            <a:ext cx="6656799" cy="50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50" baseline="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r>
              <a:rPr lang="en-US" sz="2000" dirty="0"/>
              <a:t>(b) Updated Q-values After One Episode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4F2DCD7-D807-97E0-0754-B179195CBBE7}"/>
              </a:ext>
            </a:extLst>
          </p:cNvPr>
          <p:cNvSpPr txBox="1">
            <a:spLocks/>
          </p:cNvSpPr>
          <p:nvPr/>
        </p:nvSpPr>
        <p:spPr>
          <a:xfrm>
            <a:off x="1631523" y="3929259"/>
            <a:ext cx="2789475" cy="50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50" baseline="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r>
              <a:rPr lang="en-IN" sz="2000" dirty="0"/>
              <a:t>Step 1: (Right)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2B945D6-938A-6FD9-4103-BBE4874742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50305" y="4413920"/>
                <a:ext cx="6656799" cy="7956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b="0" i="0" kern="1200">
                    <a:solidFill>
                      <a:schemeClr val="tx1"/>
                    </a:solidFill>
                    <a:latin typeface="+mn-lt"/>
                    <a:ea typeface="+mn-ea"/>
                    <a:cs typeface="Poppins Light" pitchFamily="2" charset="77"/>
                  </a:defRPr>
                </a:lvl1pPr>
                <a:lvl2pPr marL="228600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0" i="0" kern="1200">
                    <a:solidFill>
                      <a:schemeClr val="tx1"/>
                    </a:solidFill>
                    <a:latin typeface="+mn-lt"/>
                    <a:ea typeface="+mn-ea"/>
                    <a:cs typeface="Poppins Light" pitchFamily="2" charset="77"/>
                  </a:defRPr>
                </a:lvl2pPr>
                <a:lvl3pPr marL="457200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b="0" i="0" kern="1200">
                    <a:solidFill>
                      <a:schemeClr val="tx1"/>
                    </a:solidFill>
                    <a:latin typeface="+mn-lt"/>
                    <a:ea typeface="+mn-ea"/>
                    <a:cs typeface="Poppins Light" pitchFamily="2" charset="77"/>
                  </a:defRPr>
                </a:lvl3pPr>
                <a:lvl4pPr marL="685800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/>
                    </a:solidFill>
                    <a:latin typeface="Poppins Light" pitchFamily="2" charset="77"/>
                    <a:ea typeface="+mn-ea"/>
                    <a:cs typeface="Poppins Light" pitchFamily="2" charset="77"/>
                  </a:defRPr>
                </a:lvl4pPr>
                <a:lvl5pPr marL="914400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b="0" i="0" kern="1200">
                    <a:solidFill>
                      <a:schemeClr val="tx1"/>
                    </a:solidFill>
                    <a:latin typeface="Poppins Light" pitchFamily="2" charset="77"/>
                    <a:ea typeface="+mn-ea"/>
                    <a:cs typeface="Poppins Light" pitchFamily="2" charset="77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72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61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2B945D6-938A-6FD9-4103-BBE487474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305" y="4413920"/>
                <a:ext cx="6656799" cy="7956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2">
            <a:extLst>
              <a:ext uri="{FF2B5EF4-FFF2-40B4-BE49-F238E27FC236}">
                <a16:creationId xmlns:a16="http://schemas.microsoft.com/office/drawing/2014/main" id="{827E9FFD-E1D2-0FD0-E46F-6EBB3480589B}"/>
              </a:ext>
            </a:extLst>
          </p:cNvPr>
          <p:cNvSpPr txBox="1">
            <a:spLocks/>
          </p:cNvSpPr>
          <p:nvPr/>
        </p:nvSpPr>
        <p:spPr>
          <a:xfrm>
            <a:off x="1540642" y="5209564"/>
            <a:ext cx="2789475" cy="50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50" baseline="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r>
              <a:rPr lang="en-IN" sz="2000" dirty="0"/>
              <a:t>Step 2: (Right)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FA1835-001F-3A6A-680D-F36927B63708}"/>
                  </a:ext>
                </a:extLst>
              </p:cNvPr>
              <p:cNvSpPr txBox="1"/>
              <p:nvPr/>
            </p:nvSpPr>
            <p:spPr>
              <a:xfrm>
                <a:off x="2470556" y="5709823"/>
                <a:ext cx="609460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81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72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FA1835-001F-3A6A-680D-F36927B63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556" y="5709823"/>
                <a:ext cx="6094602" cy="646331"/>
              </a:xfrm>
              <a:prstGeom prst="rect">
                <a:avLst/>
              </a:prstGeom>
              <a:blipFill>
                <a:blip r:embed="rId4"/>
                <a:stretch>
                  <a:fillRect b="-4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38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1A674-5699-2B16-A6DA-B533E4F0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41509F5B-77C8-F5C9-CD54-437C6E900033}"/>
              </a:ext>
            </a:extLst>
          </p:cNvPr>
          <p:cNvSpPr txBox="1">
            <a:spLocks/>
          </p:cNvSpPr>
          <p:nvPr/>
        </p:nvSpPr>
        <p:spPr>
          <a:xfrm>
            <a:off x="1419767" y="303529"/>
            <a:ext cx="2288167" cy="50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50" baseline="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r>
              <a:rPr lang="en-IN" sz="2000" dirty="0"/>
              <a:t>Step 3: (Up)</a:t>
            </a:r>
            <a:endParaRPr lang="en-US" sz="2000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D0D15E58-6869-93D4-C031-CBFD1EE698D7}"/>
              </a:ext>
            </a:extLst>
          </p:cNvPr>
          <p:cNvSpPr txBox="1">
            <a:spLocks/>
          </p:cNvSpPr>
          <p:nvPr/>
        </p:nvSpPr>
        <p:spPr>
          <a:xfrm>
            <a:off x="1419767" y="3469735"/>
            <a:ext cx="6287684" cy="50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50" baseline="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r>
              <a:rPr lang="en-US" sz="2000" dirty="0"/>
              <a:t>Step 5: Last Action (Right → Goal 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28048A5D-6F69-87DA-F043-BC1E18AB1F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07934" y="2223987"/>
                <a:ext cx="4580388" cy="10651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b="0" i="0" kern="1200">
                    <a:solidFill>
                      <a:schemeClr val="tx1"/>
                    </a:solidFill>
                    <a:latin typeface="+mn-lt"/>
                    <a:ea typeface="+mn-ea"/>
                    <a:cs typeface="Poppins Light" pitchFamily="2" charset="77"/>
                  </a:defRPr>
                </a:lvl1pPr>
                <a:lvl2pPr marL="228600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0" i="0" kern="1200">
                    <a:solidFill>
                      <a:schemeClr val="tx1"/>
                    </a:solidFill>
                    <a:latin typeface="+mn-lt"/>
                    <a:ea typeface="+mn-ea"/>
                    <a:cs typeface="Poppins Light" pitchFamily="2" charset="77"/>
                  </a:defRPr>
                </a:lvl2pPr>
                <a:lvl3pPr marL="457200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b="0" i="0" kern="1200">
                    <a:solidFill>
                      <a:schemeClr val="tx1"/>
                    </a:solidFill>
                    <a:latin typeface="+mn-lt"/>
                    <a:ea typeface="+mn-ea"/>
                    <a:cs typeface="Poppins Light" pitchFamily="2" charset="77"/>
                  </a:defRPr>
                </a:lvl3pPr>
                <a:lvl4pPr marL="685800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/>
                    </a:solidFill>
                    <a:latin typeface="Poppins Light" pitchFamily="2" charset="77"/>
                    <a:ea typeface="+mn-ea"/>
                    <a:cs typeface="Poppins Light" pitchFamily="2" charset="77"/>
                  </a:defRPr>
                </a:lvl4pPr>
                <a:lvl5pPr marL="914400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b="0" i="0" kern="1200">
                    <a:solidFill>
                      <a:schemeClr val="tx1"/>
                    </a:solidFill>
                    <a:latin typeface="Poppins Light" pitchFamily="2" charset="77"/>
                    <a:ea typeface="+mn-ea"/>
                    <a:cs typeface="Poppins Light" pitchFamily="2" charset="77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dirty="0"/>
                  <a:t>Q(s3​,R)=0+1[0+0.9maxQ(s4​,a)]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28048A5D-6F69-87DA-F043-BC1E18AB1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34" y="2223987"/>
                <a:ext cx="4580388" cy="1065120"/>
              </a:xfrm>
              <a:prstGeom prst="rect">
                <a:avLst/>
              </a:prstGeom>
              <a:blipFill>
                <a:blip r:embed="rId2"/>
                <a:stretch>
                  <a:fillRect l="-1064" t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F5594D-C0B9-07D8-BB5E-77BE5ABC3AA1}"/>
                  </a:ext>
                </a:extLst>
              </p:cNvPr>
              <p:cNvSpPr txBox="1"/>
              <p:nvPr/>
            </p:nvSpPr>
            <p:spPr>
              <a:xfrm>
                <a:off x="3440884" y="803788"/>
                <a:ext cx="339600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Q(s2​,U)=0+1[0+0.9×90]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81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F5594D-C0B9-07D8-BB5E-77BE5ABC3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884" y="803788"/>
                <a:ext cx="3396008" cy="646331"/>
              </a:xfrm>
              <a:prstGeom prst="rect">
                <a:avLst/>
              </a:prstGeom>
              <a:blipFill>
                <a:blip r:embed="rId3"/>
                <a:stretch>
                  <a:fillRect l="-1434" t="-6604" b="-56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2">
            <a:extLst>
              <a:ext uri="{FF2B5EF4-FFF2-40B4-BE49-F238E27FC236}">
                <a16:creationId xmlns:a16="http://schemas.microsoft.com/office/drawing/2014/main" id="{5AA702CF-19A3-1FD8-3F99-E808309F13CB}"/>
              </a:ext>
            </a:extLst>
          </p:cNvPr>
          <p:cNvSpPr txBox="1">
            <a:spLocks/>
          </p:cNvSpPr>
          <p:nvPr/>
        </p:nvSpPr>
        <p:spPr>
          <a:xfrm>
            <a:off x="1419767" y="1729906"/>
            <a:ext cx="2288167" cy="50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50" baseline="0">
                <a:solidFill>
                  <a:schemeClr val="tx1"/>
                </a:solidFill>
                <a:latin typeface="+mj-lt"/>
                <a:ea typeface="+mj-ea"/>
                <a:cs typeface="Poppins" pitchFamily="2" charset="77"/>
              </a:defRPr>
            </a:lvl1pPr>
          </a:lstStyle>
          <a:p>
            <a:r>
              <a:rPr lang="en-IN" sz="2000" dirty="0"/>
              <a:t>Step 4: (Right)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83BFD683-135C-1E5F-2142-237332D32A2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64412" y="3996117"/>
                <a:ext cx="7520865" cy="1065120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From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dirty="0"/>
                  <a:t>taking action Right reaches </a:t>
                </a:r>
                <a:r>
                  <a:rPr lang="en-IN" b="1" dirty="0"/>
                  <a:t>G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Reward = +100</a:t>
                </a:r>
                <a:br>
                  <a:rPr lang="en-IN" dirty="0"/>
                </a:br>
                <a:r>
                  <a:rPr lang="en-IN" dirty="0"/>
                  <a:t>Since G is terminal: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83BFD683-135C-1E5F-2142-237332D32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64412" y="3996117"/>
                <a:ext cx="7520865" cy="1065120"/>
              </a:xfrm>
              <a:blipFill>
                <a:blip r:embed="rId4"/>
                <a:stretch>
                  <a:fillRect l="-730" t="-3448" b="-6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A713869E-882E-86C5-5FF2-E9D6D1826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539" y="5087360"/>
            <a:ext cx="5288738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37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7F7D-84A3-2E1A-664F-A52D4FD2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23" y="421097"/>
            <a:ext cx="10863660" cy="876087"/>
          </a:xfrm>
        </p:spPr>
        <p:txBody>
          <a:bodyPr/>
          <a:lstStyle/>
          <a:p>
            <a:r>
              <a:rPr lang="en-US" dirty="0"/>
              <a:t>(c) State–Action Pair with Maximum Q-value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0B546-A3C2-9374-B0C2-E79D26B38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60017" y="1297184"/>
            <a:ext cx="6119865" cy="490195"/>
          </a:xfrm>
        </p:spPr>
        <p:txBody>
          <a:bodyPr>
            <a:normAutofit/>
          </a:bodyPr>
          <a:lstStyle/>
          <a:p>
            <a:r>
              <a:rPr lang="en-IN" sz="1600" dirty="0"/>
              <a:t>The maximum Q-value is:</a:t>
            </a:r>
            <a:endParaRPr lang="en-US" sz="1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7F07D-BD30-1254-77E8-09638AC7AC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60017" y="2536029"/>
            <a:ext cx="6119865" cy="2011680"/>
          </a:xfrm>
        </p:spPr>
        <p:txBody>
          <a:bodyPr>
            <a:normAutofit/>
          </a:bodyPr>
          <a:lstStyle/>
          <a:p>
            <a:r>
              <a:rPr lang="en-IN" sz="2400" b="1" dirty="0"/>
              <a:t>Reason: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38C7D9-BFFA-7346-F017-1E41AD9B4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489" y="1613016"/>
            <a:ext cx="2084256" cy="548688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3EBF21DE-4DDF-B22B-7D7F-D7BFD6827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017" y="3199955"/>
            <a:ext cx="905220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directly leads to terminal state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receives immediate reward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+100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discounting is applied because it is one step before goal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 it has the highest return</a:t>
            </a:r>
          </a:p>
        </p:txBody>
      </p:sp>
    </p:spTree>
    <p:extLst>
      <p:ext uri="{BB962C8B-B14F-4D97-AF65-F5344CB8AC3E}">
        <p14:creationId xmlns:p14="http://schemas.microsoft.com/office/powerpoint/2010/main" val="3516832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984F-23F7-3649-4B14-BCCC9B1A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93892AF-5257-D34A-E084-714821C71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320" y="1283516"/>
            <a:ext cx="3812420" cy="35820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B334CF-C39F-B012-F25D-8D9A165D7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810" y="1345300"/>
            <a:ext cx="3812420" cy="352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1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8C2091-CE76-FB58-01FA-47B730FF8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4421221"/>
            <a:ext cx="10478450" cy="9144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3" name="Picture Placeholder 12" descr="Close up of desert dunes">
            <a:extLst>
              <a:ext uri="{FF2B5EF4-FFF2-40B4-BE49-F238E27FC236}">
                <a16:creationId xmlns:a16="http://schemas.microsoft.com/office/drawing/2014/main" id="{1A836202-BF07-0D8C-D22B-73F87E6F86B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0" y="0"/>
            <a:ext cx="12192000" cy="3778270"/>
          </a:xfr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Epic Nature">
  <a:themeElements>
    <a:clrScheme name="Finance 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D0C262"/>
      </a:accent1>
      <a:accent2>
        <a:srgbClr val="FEB8B8"/>
      </a:accent2>
      <a:accent3>
        <a:srgbClr val="6B2138"/>
      </a:accent3>
      <a:accent4>
        <a:srgbClr val="FC5316"/>
      </a:accent4>
      <a:accent5>
        <a:srgbClr val="B7D9FE"/>
      </a:accent5>
      <a:accent6>
        <a:srgbClr val="263343"/>
      </a:accent6>
      <a:hlink>
        <a:srgbClr val="467886"/>
      </a:hlink>
      <a:folHlink>
        <a:srgbClr val="96607D"/>
      </a:folHlink>
    </a:clrScheme>
    <a:fontScheme name="B&amp;W Minimalist Drama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W minimalist finance presentation_win32_DN_v2" id="{992472E5-D41A-4065-A484-868BE56B4712}" vid="{4BE192B5-7531-40E5-BCC9-1BA14634D2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{DCAE9A7B-BC0F-405B-B40A-E9961A32BDDE}920b6ce2-c783-4247-88db-32555217a6bf-TF1fdf540a-9f60-4c51-93ba-5f26bfbd0af89c4d3c5c_win32</Template>
  <TotalTime>76</TotalTime>
  <Words>413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Cambria Math</vt:lpstr>
      <vt:lpstr>Poppins</vt:lpstr>
      <vt:lpstr>Poppins Light</vt:lpstr>
      <vt:lpstr>Epic Nature</vt:lpstr>
      <vt:lpstr>REINFORCEMENT LEARNING</vt:lpstr>
      <vt:lpstr>BATCH - 09</vt:lpstr>
      <vt:lpstr>Consider the grid-world shown in the figure where each cell represents a state and the arrows indicate immediate rewards r(sⓜ,a)for taking an action in that state. The terminal state G gives a reward of +100 and ends the episode. Assume discount factor γ=0.9and initial Q(sⓜ,a)=0for all state–action pairs. The agent follows the action sequence shown below during learning. a) Write the Q-learning update equation. b) If the agent starts from the bottom-left state and moves Right → Right → Up → Right → Right to reach goal, compute the updated Q-values after this episode. c) Identify which state–action pair gets the maximum Q-value after this episode and justify why. </vt:lpstr>
      <vt:lpstr>(a) Q-Learning Update Equation</vt:lpstr>
      <vt:lpstr>PowerPoint Presentation</vt:lpstr>
      <vt:lpstr>PowerPoint Presentation</vt:lpstr>
      <vt:lpstr>(c) State–Action Pair with Maximum Q-value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JANGILI GOPI KRISHNA</dc:creator>
  <cp:lastModifiedBy>JANGILI GOPI KRISHNA</cp:lastModifiedBy>
  <cp:revision>2</cp:revision>
  <dcterms:created xsi:type="dcterms:W3CDTF">2026-02-21T16:28:30Z</dcterms:created>
  <dcterms:modified xsi:type="dcterms:W3CDTF">2026-02-23T12:17:47Z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NXPowerLiteLastOptimized">
    <vt:lpwstr>783086</vt:lpwstr>
  </property>
  <property fmtid="{D5CDD505-2E9C-101B-9397-08002B2CF9AE}" pid="5" name="NXPowerLiteSettings">
    <vt:lpwstr>F7000400038000</vt:lpwstr>
  </property>
  <property fmtid="{D5CDD505-2E9C-101B-9397-08002B2CF9AE}" pid="6" name="NXPowerLiteVersion">
    <vt:lpwstr>S10.9.5</vt:lpwstr>
  </property>
</Properties>
</file>